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kompass-nrw/-/blob/68d999dd10cf23fef5a6d39502a29eec493cba24/_posts/2026-10-26-holzbalkon-gelaender-absturzsicherung-pruefliste.md" TargetMode="External"/><Relationship Id="rId3" Type="http://schemas.openxmlformats.org/officeDocument/2006/relationships/hyperlink" Target="https://holzundhaus.github.io/holzkompassnrw/dateien/minimax-7c14a6214b0e9039bef1882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Holzbalkon-Geländer und Absturzsicherung: Was vor der Montage technisch geklärt sein muss · Erklärende Präsentation</a:t>
            </a:r>
          </a:p>
        </p:txBody>
      </p:sp>
      <p:sp>
        <p:nvSpPr>
          <p:cNvPr id="3" name="Content Placeholder 2"/>
          <p:cNvSpPr>
            <a:spLocks noGrp="1"/>
          </p:cNvSpPr>
          <p:nvPr>
            <p:ph idx="1"/>
          </p:nvPr>
        </p:nvSpPr>
        <p:spPr/>
        <p:txBody>
          <a:bodyPr/>
          <a:lstStyle/>
          <a:p>
            <a:r>
              <a:t>Überblick: Ein Balkongeländer ist nicht nur ein sichtbares Bauelement, sondern ein Teil der Tragfähigkeits- und Anschlussplanung des Balkons. Für eine belastbare Anfrage an einen Fachbetrieb sollten deshalb nicht nur Geländerhöhe und Gestaltung, sondern auch Bestand, Lastweg, Belag und spätere Kontrolle geklärt sein. Die folgenden Fragen helfen, die technischen Anforderungen vor der Montage überschaubar zu bündeln. Ergänzende Grundlagen zur Tragstruktur und zu den Anschlüssen eines Balkons bietet die Projektseite zum Holzbalkon in NRW; sie ersetzt jedoch nicht die Prüfung des konkreten Bauwerks.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Lastweg vom Geländer in den Balkon geleitet?</a:t>
            </a:r>
          </a:p>
        </p:txBody>
      </p:sp>
      <p:sp>
        <p:nvSpPr>
          <p:cNvPr id="3" name="Content Placeholder 2"/>
          <p:cNvSpPr>
            <a:spLocks noGrp="1"/>
          </p:cNvSpPr>
          <p:nvPr>
            <p:ph idx="1"/>
          </p:nvPr>
        </p:nvSpPr>
        <p:spPr/>
        <p:txBody>
          <a:bodyPr/>
          <a:lstStyle/>
          <a:p>
            <a:pPr>
              <a:defRPr sz="1800"/>
            </a:pPr>
            <a:r>
              <a:t>Die Befestigung eines Geländers darf nicht allein am sichtbaren Bodenbelag hängen. Pfosten, Riegel, Anschluss und Balkonunterkonstruktion müssen gemeinsam den Lastweg übernehmen: Pfosten erzeugen senkrechte Lasten und horizontale Kräfte, die über definierte Bauteile bis zu den Balkenträgern und in den Bestand geleitet werden müssen. Wichtig ist daher eine Skizze mit den Achsen der Unterkonstruktion, der Lage der Hauptträger, dem Wandanschluss und den geplanten Pfostenpositionen. Auch die Frage, ob das Geländer von oben auf den Belag oder seitlich an den Balkenriegel angeschlossen wird, gehört in diese Skizze. Ein vorhandenes Gebäude oder eine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Lastweg vom Geländer in den Balkon geleitet?</a:t>
            </a:r>
          </a:p>
        </p:txBody>
      </p:sp>
      <p:sp>
        <p:nvSpPr>
          <p:cNvPr id="3" name="Content Placeholder 2"/>
          <p:cNvSpPr>
            <a:spLocks noGrp="1"/>
          </p:cNvSpPr>
          <p:nvPr>
            <p:ph idx="1"/>
          </p:nvPr>
        </p:nvSpPr>
        <p:spPr/>
        <p:txBody>
          <a:bodyPr/>
          <a:lstStyle/>
          <a:p>
            <a:pPr>
              <a:defRPr sz="1800"/>
            </a:pPr>
            <a:r>
              <a:t> Bestandswand gilt nicht ohne Prüfung als tragfähiger Befestigungsgrund. Die frühzeitige Klärung verhindert, dass eine nachträgliche Änderung der Geländerform mit einer zusätzlichen Umplanung der Tragkonstruktion verbunden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Absturzsituation ist konkret zu sichern?</a:t>
            </a:r>
          </a:p>
        </p:txBody>
      </p:sp>
      <p:sp>
        <p:nvSpPr>
          <p:cNvPr id="3" name="Content Placeholder 2"/>
          <p:cNvSpPr>
            <a:spLocks noGrp="1"/>
          </p:cNvSpPr>
          <p:nvPr>
            <p:ph idx="1"/>
          </p:nvPr>
        </p:nvSpPr>
        <p:spPr/>
        <p:txBody>
          <a:bodyPr/>
          <a:lstStyle/>
          <a:p>
            <a:pPr>
              <a:defRPr sz="1800"/>
            </a:pPr>
            <a:r>
              <a:t>Die Anforderungen an Geländerhöhe, Füllung, Pfostenabstand und Klemmfähigkeit ergeben sich aus dem jeweiligen Bauwerk und der vorgesehenen Nutzung. Zu klären ist zunächst die zu sichernde Höhendifferenz. Ebenso relevant ist, ob der Balkon an mehreren Seiten offen ist, ob er als begehbarer Aufenthaltsbereich oder lediglich als Wartungszugang genutzt wird und ob der Randbereich vor der Geländerlinie zu öffnen ist. Pfosten über einem Sturzbereich oder in unmittelbarer Nähe einer Türöffnung können in die Tragwerksplanung des Balkons hineingreifen. Die Gestaltung sollte deshalb nicht isoliert festgelegt werden. Hilfreich ist eine Beschreibung der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Absturzsituation ist konkret zu sichern?</a:t>
            </a:r>
          </a:p>
        </p:txBody>
      </p:sp>
      <p:sp>
        <p:nvSpPr>
          <p:cNvPr id="3" name="Content Placeholder 2"/>
          <p:cNvSpPr>
            <a:spLocks noGrp="1"/>
          </p:cNvSpPr>
          <p:nvPr>
            <p:ph idx="1"/>
          </p:nvPr>
        </p:nvSpPr>
        <p:spPr/>
        <p:txBody>
          <a:bodyPr/>
          <a:lstStyle/>
          <a:p>
            <a:pPr>
              <a:defRPr sz="1800"/>
            </a:pPr>
            <a:r>
              <a:t>Absturzsituation mit Höhendifferenz, Geländerhöhe, Öffnungsweiten und gewünschter Nutzung. So kann der Fachbetrieb die Geländerform und die Befestigung gemeinsam bewerten.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müssen Belag, Balkontür und Wasserweg zusammenpassen?</a:t>
            </a:r>
          </a:p>
        </p:txBody>
      </p:sp>
      <p:sp>
        <p:nvSpPr>
          <p:cNvPr id="3" name="Content Placeholder 2"/>
          <p:cNvSpPr>
            <a:spLocks noGrp="1"/>
          </p:cNvSpPr>
          <p:nvPr>
            <p:ph idx="1"/>
          </p:nvPr>
        </p:nvSpPr>
        <p:spPr/>
        <p:txBody>
          <a:bodyPr/>
          <a:lstStyle/>
          <a:p>
            <a:pPr>
              <a:defRPr sz="1800"/>
            </a:pPr>
            <a:r>
              <a:t>Die Höhe des fertigen Belags beeinflusst sowohl den Geländeranschluss als auch die Ausbildung der Schwelle an der Balkontür. Eine bündige Verbindung darf nicht allein aus dem gestalterischen Wunsch abgeleitet werden. Zu klären ist, ob die Befestigung sichtbar in den Belagaufbau eingreift, wie die Schwelle ausgebildet wird und wie das anfallende Niederschlagswasser kontrolliert abgeführt wird. Besonders an spritzwasserbelasteten Außenbereichen müssen Befestigungen, Auflager und Anschlüsse zugänglich bleiben. Für Pfosten, Befestigungen und Balkonränder sollte bereits in der Anfrage festgehalten werden, ob sie später nachgezogen, kontrolliert 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müssen Belag, Balkontür und Wasserweg zusammenpassen?</a:t>
            </a:r>
          </a:p>
        </p:txBody>
      </p:sp>
      <p:sp>
        <p:nvSpPr>
          <p:cNvPr id="3" name="Content Placeholder 2"/>
          <p:cNvSpPr>
            <a:spLocks noGrp="1"/>
          </p:cNvSpPr>
          <p:nvPr>
            <p:ph idx="1"/>
          </p:nvPr>
        </p:nvSpPr>
        <p:spPr/>
        <p:txBody>
          <a:bodyPr/>
          <a:lstStyle/>
          <a:p>
            <a:pPr>
              <a:defRPr sz="1800"/>
            </a:pPr>
            <a:r>
              <a:t>er einzeln ausgetauscht werden können. Ein durchdachter Wasserweg und zugängliche Details unterstützen nicht nur die Funktion, sondern auch die spätere Kontrolle.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gehören in die Anfrage?</a:t>
            </a:r>
          </a:p>
        </p:txBody>
      </p:sp>
      <p:sp>
        <p:nvSpPr>
          <p:cNvPr id="3" name="Content Placeholder 2"/>
          <p:cNvSpPr>
            <a:spLocks noGrp="1"/>
          </p:cNvSpPr>
          <p:nvPr>
            <p:ph idx="1"/>
          </p:nvPr>
        </p:nvSpPr>
        <p:spPr/>
        <p:txBody>
          <a:bodyPr/>
          <a:lstStyle/>
          <a:p>
            <a:pPr>
              <a:defRPr sz="1800"/>
            </a:pPr>
            <a:r>
              <a:t>Eine konkrete Anfrage kann die wichtigsten Punkte in wenigen Abschnitten bündeln: Skizze von Tragraster, Hauptträgern, Wandanschluss und Pfostenpositionen; Beschreibung der Höhendifferenz, Geländerhöhe und Öffnungsweiten; Festlegung von Geländerform, Befestigungsart und gewünschtem Pfostenraster; Darlegung des Lastwegs bis in den Bestand; Angaben zu Belagaufbau, Schwellenhöhe und Wasserführung; Einschätzung des Wandanschlusses; Hinweise zur Zugänglichkeit, Kontrolle und Pflege. Die Reihenfolge sollte von Bestandsaufnahme und Tragkonzept über Nachweise und Detailplanung bis zur Montageplanung führen. Spätere Änderungen an der Gestaltung ersetz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gehören in die Anfrage?</a:t>
            </a:r>
          </a:p>
        </p:txBody>
      </p:sp>
      <p:sp>
        <p:nvSpPr>
          <p:cNvPr id="3" name="Content Placeholder 2"/>
          <p:cNvSpPr>
            <a:spLocks noGrp="1"/>
          </p:cNvSpPr>
          <p:nvPr>
            <p:ph idx="1"/>
          </p:nvPr>
        </p:nvSpPr>
        <p:spPr/>
        <p:txBody>
          <a:bodyPr/>
          <a:lstStyle/>
          <a:p>
            <a:pPr>
              <a:defRPr sz="1800"/>
            </a:pPr>
            <a:r>
              <a:t>en diese frühe Klärung nicht. Die Projektseite zum Holzbalkon-Thema kann als ergänzender Einstieg dienen, während die konkrete technische Bewertung am jeweiligen Balkon und Bestand ansetzt.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Holzbalkon-Geländer und Absturzsicherung: Was vor der Montage technisch geklärt sein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