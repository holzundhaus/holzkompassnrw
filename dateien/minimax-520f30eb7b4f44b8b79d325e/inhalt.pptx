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kompassnrw/fachwerksanierung-denkmalschutz-abstimmung-behoerde/" TargetMode="External"/><Relationship Id="rId3" Type="http://schemas.openxmlformats.org/officeDocument/2006/relationships/hyperlink" Target="https://holzundhaus.github.io/holzkompassnrw/dateien/minimax-520f30eb7b4f44b8b79d325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Fachwerksanierung und Denkmalschutz: So läuft die Abstimmung mit der Behörde vor dem ersten Eingriff · Erklärende Präsentation</a:t>
            </a:r>
          </a:p>
        </p:txBody>
      </p:sp>
      <p:sp>
        <p:nvSpPr>
          <p:cNvPr id="3" name="Content Placeholder 2"/>
          <p:cNvSpPr>
            <a:spLocks noGrp="1"/>
          </p:cNvSpPr>
          <p:nvPr>
            <p:ph idx="1"/>
          </p:nvPr>
        </p:nvSpPr>
        <p:spPr/>
        <p:txBody>
          <a:bodyPr/>
          <a:lstStyle/>
          <a:p>
            <a:r>
              <a:t>Überblick: Bei einer Fachwerksanierung muss der Denkmalschutz von Anfang an in die Planung einbezogen werden. Wer zuerst repariert und die behördliche Abstimmung später nachholt, riskiert teure Umplanungen oder Eingriffe, die nicht genehmigungsfähig sind. Entscheidend ist deshalb eine klare Reihenfolge: Bestand dokumentieren, Ursachen und Tragwerk prüfen, Maßnahmen mit der zuständigen Denkmalbehörde abstimmen und erst anschließend ausführen. Der folgende Leitfaden zeigt, welche Unterlagen vorbereitet werden sollten und welche Fragen bereits vor dem ersten Termin geklärt sein müssen. Weitere Orientierung bietet das Thema Fachwerksanierung und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Schutzstatus und Eingriffsgrenzen frühzeitig klären</a:t>
            </a:r>
          </a:p>
        </p:txBody>
      </p:sp>
      <p:sp>
        <p:nvSpPr>
          <p:cNvPr id="3" name="Content Placeholder 2"/>
          <p:cNvSpPr>
            <a:spLocks noGrp="1"/>
          </p:cNvSpPr>
          <p:nvPr>
            <p:ph idx="1"/>
          </p:nvPr>
        </p:nvSpPr>
        <p:spPr/>
        <p:txBody>
          <a:bodyPr/>
          <a:lstStyle/>
          <a:p>
            <a:pPr>
              <a:defRPr sz="1800"/>
            </a:pPr>
            <a:r>
              <a:t>Bei geschützten Gebäuden sind bauliche Maßnahmen mit der zuständigen Denkmalbehörde abzustimmen. Das betrifft nicht nur sichtbare Veränderungen an der Fassade, sondern auch Eingriffe in Tragstruktur, Gefache, Putzaufbau, historische Verbindungen oder Anschlüsse. Welche Vorgaben konkret greifen, hängt von der Schutzstellung des Objekts ab. Diese sollte daher vor Beginn der Arbeiten feststehen. Zu den typischen Auslösern für eine Erlaubnispflicht gehören der Austausch tragender Hölzer, die Veränderung von Gefachen oder Putzaufbau sowie Maßnahmen, die das Erscheinungsbild des Gebäudes verändern. Auch die Zugänglichkeit betroffener Bereiche und 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Schutzstatus und Eingriffsgrenzen frühzeitig klären</a:t>
            </a:r>
          </a:p>
        </p:txBody>
      </p:sp>
      <p:sp>
        <p:nvSpPr>
          <p:cNvPr id="3" name="Content Placeholder 2"/>
          <p:cNvSpPr>
            <a:spLocks noGrp="1"/>
          </p:cNvSpPr>
          <p:nvPr>
            <p:ph idx="1"/>
          </p:nvPr>
        </p:nvSpPr>
        <p:spPr/>
        <p:txBody>
          <a:bodyPr/>
          <a:lstStyle/>
          <a:p>
            <a:pPr>
              <a:defRPr sz="1800"/>
            </a:pPr>
            <a:r>
              <a:t>ngaben zur geplanten Nutzung helfen bei der Vorbereitung des Vorhabens.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eine nachvollziehbare Behördenanfrage</a:t>
            </a:r>
          </a:p>
        </p:txBody>
      </p:sp>
      <p:sp>
        <p:nvSpPr>
          <p:cNvPr id="3" name="Content Placeholder 2"/>
          <p:cNvSpPr>
            <a:spLocks noGrp="1"/>
          </p:cNvSpPr>
          <p:nvPr>
            <p:ph idx="1"/>
          </p:nvPr>
        </p:nvSpPr>
        <p:spPr/>
        <p:txBody>
          <a:bodyPr/>
          <a:lstStyle/>
          <a:p>
            <a:pPr>
              <a:defRPr sz="1800"/>
            </a:pPr>
            <a:r>
              <a:t>Eine vage Sanierungsidee reicht für eine Abstimmung nicht aus. Sinnvoll vorbereitet sind Fotos der betroffenen Bauteile und Schadensbereiche, Angaben zur bekannten Schutzstellung sowie Bestandspläne, soweit vorhanden. Unterlagen über frühere Umbauten oder Sanierungen können Einordnung geben. Wichtig ist außerdem eine Skizze oder Beschreibung des geplanten Eingriffs. Wer bereits sichtbare Schäden, wiederkehrende Feuchtigkeit oder undichte Stellen beobachtet, sollte diese genau aufnehmen und den betroffenen Bereichen zuordnen. Eine klare Dokumentation schafft eine gemeinsame Grundlage für Fachleute und Behörde und erleichtert die Beantwortung 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eine nachvollziehbare Behördenanfrage</a:t>
            </a:r>
          </a:p>
        </p:txBody>
      </p:sp>
      <p:sp>
        <p:nvSpPr>
          <p:cNvPr id="3" name="Content Placeholder 2"/>
          <p:cNvSpPr>
            <a:spLocks noGrp="1"/>
          </p:cNvSpPr>
          <p:nvPr>
            <p:ph idx="1"/>
          </p:nvPr>
        </p:nvSpPr>
        <p:spPr/>
        <p:txBody>
          <a:bodyPr/>
          <a:lstStyle/>
          <a:p>
            <a:pPr>
              <a:defRPr sz="1800"/>
            </a:pPr>
            <a:r>
              <a:t>on Fragen zum beabsichtigten Umfang der Arbeiten.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Ursachen vor dem Reparaturumfang prüfen</a:t>
            </a:r>
          </a:p>
        </p:txBody>
      </p:sp>
      <p:sp>
        <p:nvSpPr>
          <p:cNvPr id="3" name="Content Placeholder 2"/>
          <p:cNvSpPr>
            <a:spLocks noGrp="1"/>
          </p:cNvSpPr>
          <p:nvPr>
            <p:ph idx="1"/>
          </p:nvPr>
        </p:nvSpPr>
        <p:spPr/>
        <p:txBody>
          <a:bodyPr/>
          <a:lstStyle/>
          <a:p>
            <a:pPr>
              <a:defRPr sz="1800"/>
            </a:pPr>
            <a:r>
              <a:t>Vor der Entscheidung über den Umfang einer Reparatur muss geklärt werden, wodurch der Schaden entstanden ist. Wiederkehrende Feuchtigkeit begünstigt den Abbau von Holz. Wasserwege an Dach, Sockel und Anschlüssen sind deshalb zusammen mit den geschädigten Hölzern zu untersuchen. Wird lediglich ein sichtbarer Abschnitt ersetzt, während die undichte Anschlussstelle bestehen bleibt, bleibt die Ursache wirksam. Zur Ursachenprüfung gehören der verbleibende Querschnitt der betroffenen Hölzer, das Feuchte- und Schadensbild angrenzender Bauteile sowie die erforderliche Sicherung des Tragwerks während der Arbeiten. Diese Erkenntnisse fließen anschließe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Ursachen vor dem Reparaturumfang prüfen</a:t>
            </a:r>
          </a:p>
        </p:txBody>
      </p:sp>
      <p:sp>
        <p:nvSpPr>
          <p:cNvPr id="3" name="Content Placeholder 2"/>
          <p:cNvSpPr>
            <a:spLocks noGrp="1"/>
          </p:cNvSpPr>
          <p:nvPr>
            <p:ph idx="1"/>
          </p:nvPr>
        </p:nvSpPr>
        <p:spPr/>
        <p:txBody>
          <a:bodyPr/>
          <a:lstStyle/>
          <a:p>
            <a:pPr>
              <a:defRPr sz="1800"/>
            </a:pPr>
            <a:r>
              <a:t>nd in das Reparatur- und Sicherungskonzept ein.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Reparaturkonzept erst nach der Abstimmung konkretisieren</a:t>
            </a:r>
          </a:p>
        </p:txBody>
      </p:sp>
      <p:sp>
        <p:nvSpPr>
          <p:cNvPr id="3" name="Content Placeholder 2"/>
          <p:cNvSpPr>
            <a:spLocks noGrp="1"/>
          </p:cNvSpPr>
          <p:nvPr>
            <p:ph idx="1"/>
          </p:nvPr>
        </p:nvSpPr>
        <p:spPr/>
        <p:txBody>
          <a:bodyPr/>
          <a:lstStyle/>
          <a:p>
            <a:pPr>
              <a:defRPr sz="1800"/>
            </a:pPr>
            <a:r>
              <a:t>Reparaturverbindungen sollen den benötigten Lastweg wiederherstellen und zum erhaltenen Bestand passen. Deshalb müssen Materialwahl, Eingriffstiefe und Verbindung gemeinsam betrachtet werden. Auch Gefache und angrenzende Schichten beeinflussen Feuchte und Trocknung; eine neue dichte Bekleidung lässt sich deshalb nicht ohne Blick auf den gesamten Aufbau als Verbesserung bewerten. Die fachlich sinnvolle Reihenfolge lautet: Bestandsaufnahme, Ursachen- und Tragwerksprüfung, Abstimmung mit der Denkmalbehörde, Ausarbeitung des Reparatur- und Sicherungskonzepts und finally Ausführung am Tragwerk. Wer das Konzept vor der behördlichen Rückmeldung in 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Reparaturkonzept erst nach der Abstimmung konkretisieren</a:t>
            </a:r>
          </a:p>
        </p:txBody>
      </p:sp>
      <p:sp>
        <p:nvSpPr>
          <p:cNvPr id="3" name="Content Placeholder 2"/>
          <p:cNvSpPr>
            <a:spLocks noGrp="1"/>
          </p:cNvSpPr>
          <p:nvPr>
            <p:ph idx="1"/>
          </p:nvPr>
        </p:nvSpPr>
        <p:spPr/>
        <p:txBody>
          <a:bodyPr/>
          <a:lstStyle/>
          <a:p>
            <a:pPr>
              <a:defRPr sz="1800"/>
            </a:pPr>
            <a:r>
              <a:t>uftrag gibt, riskiert einen Bauablauf, der später angepasst werden muss.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Fachwerksanierung und Denkmalschutz: So läuft die Abstimmung mit der Behörde vor dem ersten Eingriff</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