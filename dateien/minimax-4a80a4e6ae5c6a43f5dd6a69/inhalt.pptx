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kompassnrw/holzbau-angebote-vergleichen-leistungsbeschreibung/" TargetMode="External"/><Relationship Id="rId3" Type="http://schemas.openxmlformats.org/officeDocument/2006/relationships/hyperlink" Target="https://holzundhaus.github.io/holzkompassnrw/dateien/minimax-4a80a4e6ae5c6a43f5dd6a69/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Holzbau-Angebote vergleichen: Woran erkennt man wirklich vergleichbare Leistungsbeschreibungen? · Erklärende Präsentation</a:t>
            </a:r>
          </a:p>
        </p:txBody>
      </p:sp>
      <p:sp>
        <p:nvSpPr>
          <p:cNvPr id="3" name="Content Placeholder 2"/>
          <p:cNvSpPr>
            <a:spLocks noGrp="1"/>
          </p:cNvSpPr>
          <p:nvPr>
            <p:ph idx="1"/>
          </p:nvPr>
        </p:nvSpPr>
        <p:spPr/>
        <p:txBody>
          <a:bodyPr/>
          <a:lstStyle/>
          <a:p>
            <a:r>
              <a:t>Überblick: Ein Holzbau-Angebot wird erst dann vergleichbar, wenn nicht nur der Endbetrag, sondern auch der vollständige Leistungsumfang geprüft wird. Die wichtigste Grundlage dafür ist eine nachvollziehbare Leistungsbeschreibung: Sie muss zeigen, was konkret geplant, geliefert, vorbereitet und montiert wird. Der folgende Leitfaden unterstützt dabei, zwei Angebote für unterschiedliche Vorhaben strukturiert gegenüberzustellen und typische Lücken frühzeitig zu erkennen.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Mit dem Bauziel beginnen</a:t>
            </a:r>
          </a:p>
        </p:txBody>
      </p:sp>
      <p:sp>
        <p:nvSpPr>
          <p:cNvPr id="3" name="Content Placeholder 2"/>
          <p:cNvSpPr>
            <a:spLocks noGrp="1"/>
          </p:cNvSpPr>
          <p:nvPr>
            <p:ph idx="1"/>
          </p:nvPr>
        </p:nvSpPr>
        <p:spPr/>
        <p:txBody>
          <a:bodyPr/>
          <a:lstStyle/>
          <a:p>
            <a:pPr>
              <a:defRPr sz="1800"/>
            </a:pPr>
            <a:r>
              <a:t>Der erste Vergleich beginnt nicht mit dem Quadratmeterpreis, sondern mit der Frage, ob beide Angebote überhaupt dasselbe Vorhaben beschreiben. Ein Holzhaus, eine Aufstockung, eine Dachstuhlsanierung und eine Holzterrasse haben unterschiedliche konstruktive Anforderungen, Untergründe und Ausbaustufen. Entscheidend ist deshalb, dass Maße, Bestand und gewünschtes Ergebnis eindeutig benannt sind. Formulierungen wie „komplett aus Holz“ oder „turnusfertig“ helfen ohne Erklärung nicht weiter. Wer diese Begriffe in einzelne Leistungen übersetzt, kann prüfen, ob ein Angebot dieselbe Leistung wie das andere abdeckt.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Planung und technische Grundlagen einzeln prüfen</a:t>
            </a:r>
          </a:p>
        </p:txBody>
      </p:sp>
      <p:sp>
        <p:nvSpPr>
          <p:cNvPr id="3" name="Content Placeholder 2"/>
          <p:cNvSpPr>
            <a:spLocks noGrp="1"/>
          </p:cNvSpPr>
          <p:nvPr>
            <p:ph idx="1"/>
          </p:nvPr>
        </p:nvSpPr>
        <p:spPr/>
        <p:txBody>
          <a:bodyPr/>
          <a:lstStyle/>
          <a:p>
            <a:pPr>
              <a:defRPr sz="1800"/>
            </a:pPr>
            <a:r>
              <a:t>In einer vergleichbaren Beschreibung sollten Entwurf, Bestandsaufnahme, Tragwerksnachweis und Detailplanung unterscheidbar sein. Auch die Frage, welche Unterlagen und Vorbereitungen vom Auftraggeber kommen, gehört in das Angebot. Ein vorhandener Grundriss ersetzt nicht automatisch alle erforderlichen Nachweise für einen neuen Wanddurchbruch. Ebenso wichtig sind Holzart, Querschnitte, Beplankung, Dämmung, Verbindungsmittel und Oberflächen. Erst wenn der Konstruktionsaufbau bei beiden Angeboten ähnlich beschrieben ist, lassen sich Preise sinnvoll nebeneinanderstellen.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Vorfertigung, Montage und Schnittstellen klären</a:t>
            </a:r>
          </a:p>
        </p:txBody>
      </p:sp>
      <p:sp>
        <p:nvSpPr>
          <p:cNvPr id="3" name="Content Placeholder 2"/>
          <p:cNvSpPr>
            <a:spLocks noGrp="1"/>
          </p:cNvSpPr>
          <p:nvPr>
            <p:ph idx="1"/>
          </p:nvPr>
        </p:nvSpPr>
        <p:spPr/>
        <p:txBody>
          <a:bodyPr/>
          <a:lstStyle/>
          <a:p>
            <a:pPr>
              <a:defRPr sz="1800"/>
            </a:pPr>
            <a:r>
              <a:t>Der Vorfertigungsgrad verändert, welche Arbeiten in Werkstatt und auf der Baustelle stattfinden. Deshalb sollte ausdrücklich beschrieben werden, was vor Ort ausgeführt wird und wer die Anschlüsse zwischen Element, Gründung, Decke, Dach und Haustechnik verantwortet. Auch Transport, Montagezugang, Stellfläche, Hebezeug und die Tragfähigkeit der Zufahrt sind relevante Positionen. Bei einer offenen Bauphase gehören Wetterschutz, Schutz vorhandener Räume und die Maßnahmen bei Regenphasen in die Leistungsbeschreibung. Fehlende Angaben werden sonst häufig zu Nachträgen oder Verzögerungen.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Lücken vor der Auftragsvergabe ansprechen</a:t>
            </a:r>
          </a:p>
        </p:txBody>
      </p:sp>
      <p:sp>
        <p:nvSpPr>
          <p:cNvPr id="3" name="Content Placeholder 2"/>
          <p:cNvSpPr>
            <a:spLocks noGrp="1"/>
          </p:cNvSpPr>
          <p:nvPr>
            <p:ph idx="1"/>
          </p:nvPr>
        </p:nvSpPr>
        <p:spPr/>
        <p:txBody>
          <a:bodyPr/>
          <a:lstStyle/>
          <a:p>
            <a:pPr>
              <a:defRPr sz="1800"/>
            </a:pPr>
            <a:r>
              <a:t>Bevor zwei Angebote ausgewertet werden, sollte eine gemeinsame Prüfreihenfolge feststehen: Bauziel, Unterlagen, technische Lösung, Ausbaustufe und schließlich Maße, Mengen und Qualitäten. Besonders wichtig sind Aussagen zu verdeckten Schäden, erwarteten Bestandsuntersuchungen, Genehmigungsfragen, konstruktivem Holzschutz sowie Untergrund und Auflager bei Terrassen oder Balkonen. Nicht jede offene Frage muss bereits vollständig geklärt sein; sie sollte aber im Angebot benannt und einer klaren Zuständigkeit zugeordnet werden. Das schafft Vergleichbarkeit und verhindert, dass Risiken unbemerkt im Endbetrag versteckt bleiben.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Preis erst nach der Leistungsprüfung einordnen</a:t>
            </a:r>
          </a:p>
        </p:txBody>
      </p:sp>
      <p:sp>
        <p:nvSpPr>
          <p:cNvPr id="3" name="Content Placeholder 2"/>
          <p:cNvSpPr>
            <a:spLocks noGrp="1"/>
          </p:cNvSpPr>
          <p:nvPr>
            <p:ph idx="1"/>
          </p:nvPr>
        </p:nvSpPr>
        <p:spPr/>
        <p:txBody>
          <a:bodyPr/>
          <a:lstStyle/>
          <a:p>
            <a:pPr>
              <a:defRPr sz="1800"/>
            </a:pPr>
            <a:r>
              <a:t>Ein zunächst niedrigerer Gesamtpreis kann teurer sein, wenn zusätzliche Leistungen fehlen oder später hinzukommen. Deshalb empfiehlt sich ein tabellenartiger Vergleich der Angebote: zuerst gleiche Bauziele und Ausbaustufen, dann Planung, Material, Vorfertigung, Transport, Montage, Nebenleistungen und Schnittstellen. Erst anschließend sollten die Endsummen bewertet werden. Für weitere Orientierung bietet der [Hauptbeitrag zu vergleichbaren Leistungsbeschreibungen] eine ausführliche Checkliste. Der [passende Beitrag zur Regenwasserführung bei Carport und Terrassenüberdachung] ergänzt das Thema um einen konkreten baulichen Anschlussfall.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Holzbau-Angebote vergleichen: Woran erkennt man wirklich vergleichbare Leistungsbeschreibungen?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