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kompass-nrw/-/blob/c3399281b36840b94a83fd15b156c51f8206329c/_posts/2026-10-22-fachwerksanierung-reparaturverbindungen-material-und-gefach.md" TargetMode="External"/><Relationship Id="rId3" Type="http://schemas.openxmlformats.org/officeDocument/2006/relationships/hyperlink" Target="https://holzundhaus.github.io/holzkompassnrw/dateien/minimax-33aed920c18a9d8b4a09d9a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Fachwerksanierung: Reparaturverbindung, Material und Gefach im Zusammenspiel · Erklärende Präsentation</a:t>
            </a:r>
          </a:p>
        </p:txBody>
      </p:sp>
      <p:sp>
        <p:nvSpPr>
          <p:cNvPr id="3" name="Content Placeholder 2"/>
          <p:cNvSpPr>
            <a:spLocks noGrp="1"/>
          </p:cNvSpPr>
          <p:nvPr>
            <p:ph idx="1"/>
          </p:nvPr>
        </p:nvSpPr>
        <p:spPr/>
        <p:txBody>
          <a:bodyPr/>
          <a:lstStyle/>
          <a:p>
            <a:r>
              <a:t>Überblick: Bei einer Fachwerksanierung entsteht die belastbare Lösung nicht durch die Entscheidung für eine einzelne Holzverbindung, sondern durch das Zusammenspiel von Tragwerk, Material und Gefach. Holzquerschnitt, Anschlussgeometrie, Trocknung, Feuchteabführung und denkmalrechtliche Vorgaben beeinflussen sich gegenseitig. Deshalb sollte die Planung mit dem vorhandenen Lastweg beginnen und erst danach über Reparaturverbindung, Ersatzholz und ergänzende Schichten entscheiden. Der folgende Leitfaden ordnet diese Fragen so, dass einzelne Maßnahmen nicht isoliert, sondern als abgestimmtes Konzept bearbeitet werden können.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dem Lastweg statt mit der Reparatur beginnen</a:t>
            </a:r>
          </a:p>
        </p:txBody>
      </p:sp>
      <p:sp>
        <p:nvSpPr>
          <p:cNvPr id="3" name="Content Placeholder 2"/>
          <p:cNvSpPr>
            <a:spLocks noGrp="1"/>
          </p:cNvSpPr>
          <p:nvPr>
            <p:ph idx="1"/>
          </p:nvPr>
        </p:nvSpPr>
        <p:spPr/>
        <p:txBody>
          <a:bodyPr/>
          <a:lstStyle/>
          <a:p>
            <a:pPr>
              <a:defRPr sz="1800"/>
            </a:pPr>
            <a:r>
              <a:t>Bevor Zapfen, Versätze oder Laschen ausgewählt werden, muss geklärt werden, wie die Kräfte im Tragwerk tatsächlich fließen. Grundlage dafür sind Bestandspläne und Fotos früherer Umbauten sowie die sichtbaren Spuren am Holz. Verfärbungen, Risse und Verformungen können Hinweise auf Feuchteschäden, frühere Eingriffe oder veränderte Beanspruchungen geben. Ergänzend sind Untersuchungen zu Feuchte und zum verbleibenden gesunden Holzquerschnitt wichtig. Erst aus diesem Gesamtbild lässt sich beurteilen, ob eine klassische Holzverbindung möglich ist oder ob eine nicht sichtbare oder bewusst sichtbare Verstärkung erforderlich wird. Die fachliche Einord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dem Lastweg statt mit der Reparatur beginnen</a:t>
            </a:r>
          </a:p>
        </p:txBody>
      </p:sp>
      <p:sp>
        <p:nvSpPr>
          <p:cNvPr id="3" name="Content Placeholder 2"/>
          <p:cNvSpPr>
            <a:spLocks noGrp="1"/>
          </p:cNvSpPr>
          <p:nvPr>
            <p:ph idx="1"/>
          </p:nvPr>
        </p:nvSpPr>
        <p:spPr/>
        <p:txBody>
          <a:bodyPr/>
          <a:lstStyle/>
          <a:p>
            <a:pPr>
              <a:defRPr sz="1800"/>
            </a:pPr>
            <a:r>
              <a:t>nung bietet der Beitrag Fachwerksanierung: Reparaturverbindung, Material und Gefach im Zusammenspiel.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Eingriffstiefe und Material gemeinsam festlegen</a:t>
            </a:r>
          </a:p>
        </p:txBody>
      </p:sp>
      <p:sp>
        <p:nvSpPr>
          <p:cNvPr id="3" name="Content Placeholder 2"/>
          <p:cNvSpPr>
            <a:spLocks noGrp="1"/>
          </p:cNvSpPr>
          <p:nvPr>
            <p:ph idx="1"/>
          </p:nvPr>
        </p:nvSpPr>
        <p:spPr/>
        <p:txBody>
          <a:bodyPr/>
          <a:lstStyle/>
          <a:p>
            <a:pPr>
              <a:defRPr sz="1800"/>
            </a:pPr>
            <a:r>
              <a:t>Die Entscheidung über das Ersatzholz hängt unmittelbar mit der gewählten Eingriffstiefe zusammen. Wird ein ganzer Stab ausgetauscht, verändern sich Steifigkeit und Anschlussgeometrie des betroffenen Feldes. Wird lediglich ein Schadensendpunkt ersetzt, liegt die sensible Stelle am Übergang zwischen altem und neuem Holz. In beiden Fällen müssen Holzart, Querschnitt und Trocknungszustand zum verbleibenden Bestand passen. Ebenso wichtig ist, dass die neue Verbindung den ursprünglichen Lastweg nicht unbeabsichtigt verändert. Material und Verbindung sollten daher nicht getrennt voneinander beurteilt werden, sondern als zwei Seiten derselben konstru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Eingriffstiefe und Material gemeinsam festlegen</a:t>
            </a:r>
          </a:p>
        </p:txBody>
      </p:sp>
      <p:sp>
        <p:nvSpPr>
          <p:cNvPr id="3" name="Content Placeholder 2"/>
          <p:cNvSpPr>
            <a:spLocks noGrp="1"/>
          </p:cNvSpPr>
          <p:nvPr>
            <p:ph idx="1"/>
          </p:nvPr>
        </p:nvSpPr>
        <p:spPr/>
        <p:txBody>
          <a:bodyPr/>
          <a:lstStyle/>
          <a:p>
            <a:pPr>
              <a:defRPr sz="1800"/>
            </a:pPr>
            <a:r>
              <a:t>ktiven Entscheidung.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Trocknung nicht erst nach der Reparatur prüfen</a:t>
            </a:r>
          </a:p>
        </p:txBody>
      </p:sp>
      <p:sp>
        <p:nvSpPr>
          <p:cNvPr id="3" name="Content Placeholder 2"/>
          <p:cNvSpPr>
            <a:spLocks noGrp="1"/>
          </p:cNvSpPr>
          <p:nvPr>
            <p:ph idx="1"/>
          </p:nvPr>
        </p:nvSpPr>
        <p:spPr/>
        <p:txBody>
          <a:bodyPr/>
          <a:lstStyle/>
          <a:p>
            <a:pPr>
              <a:defRPr sz="1800"/>
            </a:pPr>
            <a:r>
              <a:t>Unterschiedliche Holzarten nehmen Feuchte unterschiedlich auf und geben sie unterschiedlich schnell wieder ab. Passt das neue Bauteil nicht zum Bestand, können sich an der Verbindungsstelle Feuchtenester bilden. Im weiteren Gefach können daraus Folgeschäden entstehen. Deshalb gehört die Trocknungsanpassung von Anfang an zur Materialplanung. Auch die angrenzenden Schichten müssen in diese Überlegung einbezogen werden: Lehm, Holzwolle, Mauerwerk und Putz beeinflussen die Feuchteabführung und das Verhalten der Wand insgesamt. Eine neue, dichte Bekleidung kann die Trocknung des Holzes verschlechtern. Ein offenes, diffusionsfähiges Gefach wiederum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Trocknung nicht erst nach der Reparatur prüfen</a:t>
            </a:r>
          </a:p>
        </p:txBody>
      </p:sp>
      <p:sp>
        <p:nvSpPr>
          <p:cNvPr id="3" name="Content Placeholder 2"/>
          <p:cNvSpPr>
            <a:spLocks noGrp="1"/>
          </p:cNvSpPr>
          <p:nvPr>
            <p:ph idx="1"/>
          </p:nvPr>
        </p:nvSpPr>
        <p:spPr/>
        <p:txBody>
          <a:bodyPr/>
          <a:lstStyle/>
          <a:p>
            <a:pPr>
              <a:defRPr sz="1800"/>
            </a:pPr>
            <a:r>
              <a:t> kann Feuchte ungehindert zirkulieren lassen. Vor der Maßnahme sollte deshalb geklärt werden, welcher Aufbau vorhanden ist, was erhalten bleibt und wie Feuchte aus dem Anschlussbereich abgeführt werden kann.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Gefach und Bekleidung als Teil des Tragwerks verstehen</a:t>
            </a:r>
          </a:p>
        </p:txBody>
      </p:sp>
      <p:sp>
        <p:nvSpPr>
          <p:cNvPr id="3" name="Content Placeholder 2"/>
          <p:cNvSpPr>
            <a:spLocks noGrp="1"/>
          </p:cNvSpPr>
          <p:nvPr>
            <p:ph idx="1"/>
          </p:nvPr>
        </p:nvSpPr>
        <p:spPr/>
        <p:txBody>
          <a:bodyPr/>
          <a:lstStyle/>
          <a:p>
            <a:pPr>
              <a:defRPr sz="1800"/>
            </a:pPr>
            <a:r>
              <a:t>Das Gefach ist bei einer Fachwerksanierung mehr als eine Füllung. Es wirkt an der Schnittstelle zwischen Holz, Raumklima und angrenzenden Bauteilen. Für die Planung bedeutet das: Nicht nur die sichtbare Holzkonstruktion wird bewertet, sondern auch der vorhandene Putz- oder Bekleidungsaufbau. Die Frage reicht von den Schichten, die diffusionsoffen bleiben können, bis zu den Bereichen, die dichter ausgeführt werden müssen. Zugleich ist zu prüfen, welche Maßnahme die Trocknungsbedingungen nachhaltig verändert. Für eine weiterführende fachliche Einordnung kann der passende Fachbeitrag zum Thema Gefach und angrenzende Schichten herangezogen werden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Gefach und Bekleidung als Teil des Tragwerks verstehen</a:t>
            </a:r>
          </a:p>
        </p:txBody>
      </p:sp>
      <p:sp>
        <p:nvSpPr>
          <p:cNvPr id="3" name="Content Placeholder 2"/>
          <p:cNvSpPr>
            <a:spLocks noGrp="1"/>
          </p:cNvSpPr>
          <p:nvPr>
            <p:ph idx="1"/>
          </p:nvPr>
        </p:nvSpPr>
        <p:spPr/>
        <p:txBody>
          <a:bodyPr/>
          <a:lstStyle/>
          <a:p>
            <a:pPr>
              <a:defRPr sz="1800"/>
            </a:pP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Gefach, Denkmal und Maßnahmenplan miteinander verbinden</a:t>
            </a:r>
          </a:p>
        </p:txBody>
      </p:sp>
      <p:sp>
        <p:nvSpPr>
          <p:cNvPr id="3" name="Content Placeholder 2"/>
          <p:cNvSpPr>
            <a:spLocks noGrp="1"/>
          </p:cNvSpPr>
          <p:nvPr>
            <p:ph idx="1"/>
          </p:nvPr>
        </p:nvSpPr>
        <p:spPr/>
        <p:txBody>
          <a:bodyPr/>
          <a:lstStyle/>
          <a:p>
            <a:pPr>
              <a:defRPr sz="1800"/>
            </a:pPr>
            <a:r>
              <a:t>Bei geschützten Gebäuden sind Eingriffe in Substanz und Erscheinungsbild mit der zuständigen Denkmalbehörde abzustimmen. Das kann auch die Anforderung nach einer bestimmten Holzart, Verbindungstechnik oder Dokumentation betreffen. Hilfreich ist ein in sich stimmiges Konzept, das Lastweg, Trocknung, Gefach und denkmalrechtliche Anforderungen gemeinsam erklärt. Die sinnvolle Reihenfolge lautet: dokumentieren, Ursachen und Tragwerk prüfen, Maßnahmen abstimmen und anschließend reparieren. So werden Verbindungsdetails nicht vorschnell festgelegt, bevor ihre Auswirkungen auf das gesamte Fachwerk bekannt sind.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Fachwerksanierung: Reparaturverbindung, Material und Gefach im Zusammenspiel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