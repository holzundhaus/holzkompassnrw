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kompassnrw.blogspot.com/2026/10/aufstockung-in-holzbauweise-welche.html" TargetMode="External"/><Relationship Id="rId3" Type="http://schemas.openxmlformats.org/officeDocument/2006/relationships/hyperlink" Target="https://holzundhaus.github.io/holzkompassnrw/dateien/minimax-8fd1a7f8e6d01f83d5f733a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Aufstockung in Holzbauweise: Welche Bestandsunterlagen die Tragfähigkeitsprüfung braucht · Erklärende Präsentation</a:t>
            </a:r>
          </a:p>
        </p:txBody>
      </p:sp>
      <p:sp>
        <p:nvSpPr>
          <p:cNvPr id="3" name="Content Placeholder 2"/>
          <p:cNvSpPr>
            <a:spLocks noGrp="1"/>
          </p:cNvSpPr>
          <p:nvPr>
            <p:ph idx="1"/>
          </p:nvPr>
        </p:nvSpPr>
        <p:spPr/>
        <p:txBody>
          <a:bodyPr/>
          <a:lstStyle/>
          <a:p>
            <a:r>
              <a:t>Überblick: Eine Aufstockung in Holzbauweise beginnt nicht mit der Entscheidung für Holz, sondern mit einer belastbaren Bestandsaufnahme. Entscheidend ist, welche Lasten, Öffnungen und Veränderungen im vorhandenen Gebäude bereits wirken. Für eine realistische Tragfähigkeitsprüfung brauchen Bauherrinnen und Bauherren deshalb vorab eine geordnete Unterlagenmappe. Sie zeigt, was über Pläne und Nachweise bekannt ist und wo eine Bestandsaufnahme am Objekt erforderlich wird.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Bestand entscheidet über die Machbarkeit</a:t>
            </a:r>
          </a:p>
        </p:txBody>
      </p:sp>
      <p:sp>
        <p:nvSpPr>
          <p:cNvPr id="3" name="Content Placeholder 2"/>
          <p:cNvSpPr>
            <a:spLocks noGrp="1"/>
          </p:cNvSpPr>
          <p:nvPr>
            <p:ph idx="1"/>
          </p:nvPr>
        </p:nvSpPr>
        <p:spPr/>
        <p:txBody>
          <a:bodyPr/>
          <a:lstStyle/>
          <a:p>
            <a:pPr>
              <a:defRPr sz="1800"/>
            </a:pPr>
            <a:r>
              <a:t>Eine zusätzliche Etage belastet bestehende Wände, Decken und Fundamente und verändert zugleich die Aussteifung. Ob das Gebäude diese zusätzlichen Anforderungen aufnehmen kann, lässt sich daher nicht allein aus dem gewünschten Baustoff ableiten. Zu den zentralen Prüfbereichen gehören die Tragreserven der Außen- und Innenwände, die Reserven der obersten Geschossdecke sowie die Tragfähigkeit der Gründung. Grundrisse, Schnitte, Ansichten, vorhandene Statiken und Angaben zu früheren Umbauten liefern die Ausgangsdaten. Fehlende Unterlagen sollten nicht stillschweigend durch Annahmen ersetzt werden. Eine Bestandsaufnahme kann klären, welche Maße, Ba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Bestand entscheidet über die Machbarkeit</a:t>
            </a:r>
          </a:p>
        </p:txBody>
      </p:sp>
      <p:sp>
        <p:nvSpPr>
          <p:cNvPr id="3" name="Content Placeholder 2"/>
          <p:cNvSpPr>
            <a:spLocks noGrp="1"/>
          </p:cNvSpPr>
          <p:nvPr>
            <p:ph idx="1"/>
          </p:nvPr>
        </p:nvSpPr>
        <p:spPr/>
        <p:txBody>
          <a:bodyPr/>
          <a:lstStyle/>
          <a:p>
            <a:pPr>
              <a:defRPr sz="1800"/>
            </a:pPr>
            <a:r>
              <a:t>uteilaufbauten und Veränderungen tatsächlich vorhanden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Pläne und Nachweise gehören in die Mappe</a:t>
            </a:r>
          </a:p>
        </p:txBody>
      </p:sp>
      <p:sp>
        <p:nvSpPr>
          <p:cNvPr id="3" name="Content Placeholder 2"/>
          <p:cNvSpPr>
            <a:spLocks noGrp="1"/>
          </p:cNvSpPr>
          <p:nvPr>
            <p:ph idx="1"/>
          </p:nvPr>
        </p:nvSpPr>
        <p:spPr/>
        <p:txBody>
          <a:bodyPr/>
          <a:lstStyle/>
          <a:p>
            <a:pPr>
              <a:defRPr sz="1800"/>
            </a:pPr>
            <a:r>
              <a:t>Hilfreich ist eine geschlossene Sammlung mit Lageplan, Grundrissen aller Geschosse, Schnitten und Ansichten. Besonders wichtig sind die oberste Geschossdecke und das Dachgeschoss. Für die Decke interessieren Tragrichtung, Spannweiten, Auflager und Aussparungen für Treppen, Schächte oder Installationen. Bei Holzbalkendecken werden Balkenlage, Dimensionen und Auflagerpunkte dokumentiert. Für das Dach gehören Sparren, Pfetten, Binder und vorhandene Aussteifungsverbände in den Blick. Eine vorhandene Bestandsstatik kann zulässige Lasten, Bauteildimensionen und ursprünglich angesetzte Sicherheiten liefern, auch wenn sie nicht sämtliche Bauteile abd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Pläne und Nachweise gehören in die Mappe</a:t>
            </a:r>
          </a:p>
        </p:txBody>
      </p:sp>
      <p:sp>
        <p:nvSpPr>
          <p:cNvPr id="3" name="Content Placeholder 2"/>
          <p:cNvSpPr>
            <a:spLocks noGrp="1"/>
          </p:cNvSpPr>
          <p:nvPr>
            <p:ph idx="1"/>
          </p:nvPr>
        </p:nvSpPr>
        <p:spPr/>
        <p:txBody>
          <a:bodyPr/>
          <a:lstStyle/>
          <a:p>
            <a:pPr>
              <a:defRPr sz="1800"/>
            </a:pPr>
            <a:r>
              <a:t>eckt. Umbautenhistorie und Baugenehmigungen sind ebenfalls wichtig, weil nachträglich entfernte Wände, geöffnete Decken oder geänderte Nutzungen die Tragreserven beeinflussen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Erschließung und Haustechnik mitdenken</a:t>
            </a:r>
          </a:p>
        </p:txBody>
      </p:sp>
      <p:sp>
        <p:nvSpPr>
          <p:cNvPr id="3" name="Content Placeholder 2"/>
          <p:cNvSpPr>
            <a:spLocks noGrp="1"/>
          </p:cNvSpPr>
          <p:nvPr>
            <p:ph idx="1"/>
          </p:nvPr>
        </p:nvSpPr>
        <p:spPr/>
        <p:txBody>
          <a:bodyPr/>
          <a:lstStyle/>
          <a:p>
            <a:pPr>
              <a:defRPr sz="1800"/>
            </a:pPr>
            <a:r>
              <a:t>Die geplante Zusatzfläche sollte nicht nur als Quadratmeterzahl beschrieben werden. Für eine prüfbare Projektbeschreibung gehören die ungefähre Fläche, die Anzahl der zusätzlichen Räume, die vorgesehene Nutzung und die erwarteten Zusatzlasten dazu. Bäder, Küchen oder Solartechnik können gegenüber einem nicht ausgebauten Dachraum andere Anforderungen an die Decke und die Installationen stellen. Parallel müssen die Treppe, die Erschließung und der Brandschutz bewertet werden. Grundriss und Schnitt der Bestandstreppe sowie Angaben zu Treppenbreite und Steigung gehören deshalb in die Unterlagen. Pläne für Elektro-, Sanitär- und Heizungsstränge 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Erschließung und Haustechnik mitdenken</a:t>
            </a:r>
          </a:p>
        </p:txBody>
      </p:sp>
      <p:sp>
        <p:nvSpPr>
          <p:cNvPr id="3" name="Content Placeholder 2"/>
          <p:cNvSpPr>
            <a:spLocks noGrp="1"/>
          </p:cNvSpPr>
          <p:nvPr>
            <p:ph idx="1"/>
          </p:nvPr>
        </p:nvSpPr>
        <p:spPr/>
        <p:txBody>
          <a:bodyPr/>
          <a:lstStyle/>
          <a:p>
            <a:pPr>
              <a:defRPr sz="1800"/>
            </a:pPr>
            <a:r>
              <a:t>lfen, Konflikte zwischen neuen Leitungswegen und dem Bestand früh zu erkennen. Fotos von Dach, Decken und Treppe ergänzen die Unterlagen und machen sichtbare Besonderheiten nachvollziehbar.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Baufolge und erste Anfrage</a:t>
            </a:r>
          </a:p>
        </p:txBody>
      </p:sp>
      <p:sp>
        <p:nvSpPr>
          <p:cNvPr id="3" name="Content Placeholder 2"/>
          <p:cNvSpPr>
            <a:spLocks noGrp="1"/>
          </p:cNvSpPr>
          <p:nvPr>
            <p:ph idx="1"/>
          </p:nvPr>
        </p:nvSpPr>
        <p:spPr/>
        <p:txBody>
          <a:bodyPr/>
          <a:lstStyle/>
          <a:p>
            <a:pPr>
              <a:defRPr sz="1800"/>
            </a:pPr>
            <a:r>
              <a:t>Wird das Dach geöffnet oder entfernt, ist der darunterliegende Bestand zeitweise der Witterung ausgesetzt. Ein Wetterschutzkonzept und die Sicherung während der Baufolge sollten daher vorbereitet sein. Für die erste Anfrage an eine Tragwerksplanung genügt eine strukturierte Übersicht: geplante Geschosszahl, vorhandene Pläne, gewünschte Zusatzfläche und Nutzung. Bei einem bewohnten Bestand kommen Angaben zu Zugang, Aufstellfläche für Kran und Material, erreichbaren Hebepunkten sowie zur Tragfähigkeit der Zufahrt hinzu. Auch erforderliche Unterbrechungen der Gebäudenutzung können relevant werden. Je vollständiger diese Angaben sind, desto frühe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Baufolge und erste Anfrage</a:t>
            </a:r>
          </a:p>
        </p:txBody>
      </p:sp>
      <p:sp>
        <p:nvSpPr>
          <p:cNvPr id="3" name="Content Placeholder 2"/>
          <p:cNvSpPr>
            <a:spLocks noGrp="1"/>
          </p:cNvSpPr>
          <p:nvPr>
            <p:ph idx="1"/>
          </p:nvPr>
        </p:nvSpPr>
        <p:spPr/>
        <p:txBody>
          <a:bodyPr/>
          <a:lstStyle/>
          <a:p>
            <a:pPr>
              <a:defRPr sz="1800"/>
            </a:pPr>
            <a:r>
              <a:t>r können Tragreserven, Erschließung und Wetterschutz gemeinsam eingeordnet und die Grundrissentscheidung belastbar vorbereitet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Aufstockung in Holzbauweise: Welche Bestandsunterlagen die Tragfähigkeitsprüfung braucht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